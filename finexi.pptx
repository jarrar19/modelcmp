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431671" y="1260728"/>
            <a:ext cx="1490980" cy="14884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905">
              <a:spcBef>
                <a:spcPts val="100"/>
              </a:spcBef>
            </a:pPr>
            <a:r>
              <a:rPr sz="3200" b="1" spc="-30" dirty="0">
                <a:solidFill>
                  <a:srgbClr val="000000"/>
                </a:solidFill>
                <a:latin typeface="Times New Roman"/>
                <a:cs typeface="Times New Roman"/>
              </a:rPr>
              <a:t>TAE-</a:t>
            </a:r>
            <a:r>
              <a:rPr sz="32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II</a:t>
            </a:r>
            <a:endParaRPr sz="3200" b="1" dirty="0">
              <a:latin typeface="Times New Roman"/>
              <a:cs typeface="Times New Roman"/>
            </a:endParaRPr>
          </a:p>
          <a:p>
            <a:pPr marL="12700" marR="5080"/>
            <a:r>
              <a:rPr sz="32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Seminar</a:t>
            </a:r>
            <a:r>
              <a:rPr sz="32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61152" y="4536287"/>
            <a:ext cx="172504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By: 1.</a:t>
            </a:r>
            <a:r>
              <a:rPr lang="en-US" sz="2000" b="1" spc="-25" dirty="0">
                <a:latin typeface="Times New Roman"/>
                <a:cs typeface="Times New Roman"/>
              </a:rPr>
              <a:t> Jarrar Khan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323" y="2723770"/>
            <a:ext cx="11523406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11425" marR="2567940" indent="3810" algn="ctr">
              <a:spcBef>
                <a:spcPts val="100"/>
              </a:spcBef>
            </a:pPr>
            <a:r>
              <a:rPr lang="en-IN" sz="3200" b="1" spc="-55" dirty="0">
                <a:latin typeface="Times New Roman"/>
                <a:cs typeface="Times New Roman"/>
              </a:rPr>
              <a:t>Explainability vs Interpretability</a:t>
            </a:r>
            <a:r>
              <a:rPr sz="3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imes New Roman"/>
                <a:cs typeface="Times New Roman"/>
              </a:rPr>
              <a:t>under</a:t>
            </a:r>
            <a:r>
              <a:rPr sz="3200" b="1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32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course</a:t>
            </a:r>
            <a:endParaRPr sz="3200" dirty="0">
              <a:latin typeface="Times New Roman"/>
              <a:cs typeface="Times New Roman"/>
            </a:endParaRPr>
          </a:p>
          <a:p>
            <a:pPr marR="60960" algn="ctr">
              <a:spcBef>
                <a:spcPts val="15"/>
              </a:spcBef>
            </a:pP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Explainable</a:t>
            </a:r>
            <a:r>
              <a:rPr sz="28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Artificial</a:t>
            </a:r>
            <a:r>
              <a:rPr sz="28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Intelligence</a:t>
            </a:r>
            <a:r>
              <a:rPr sz="2800" b="1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(N-</a:t>
            </a:r>
            <a:r>
              <a:rPr sz="2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PECCM706T)</a:t>
            </a:r>
            <a:endParaRPr lang="en-US" sz="2800" spc="-10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R="60960" algn="ctr">
              <a:spcBef>
                <a:spcPts val="15"/>
              </a:spcBef>
            </a:pPr>
            <a:r>
              <a:rPr lang="en-IN" sz="2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														</a:t>
            </a:r>
            <a:r>
              <a:rPr sz="2000" b="1" dirty="0">
                <a:latin typeface="Times New Roman"/>
                <a:cs typeface="Times New Roman"/>
              </a:rPr>
              <a:t>Under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Guidance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13947" y="4622632"/>
            <a:ext cx="21621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spcBef>
                <a:spcPts val="100"/>
              </a:spcBef>
            </a:pPr>
            <a:r>
              <a:rPr sz="2000" b="1" spc="-25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Mrs.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Neha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Gurnani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04979" y="5533066"/>
            <a:ext cx="4931410" cy="637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spcBef>
                <a:spcPts val="100"/>
              </a:spcBef>
            </a:pPr>
            <a:r>
              <a:rPr sz="2200" b="1" dirty="0">
                <a:latin typeface="Times New Roman"/>
                <a:cs typeface="Times New Roman"/>
              </a:rPr>
              <a:t>7</a:t>
            </a:r>
            <a:r>
              <a:rPr sz="2175" b="1" baseline="30651" dirty="0">
                <a:latin typeface="Times New Roman"/>
                <a:cs typeface="Times New Roman"/>
              </a:rPr>
              <a:t>th</a:t>
            </a:r>
            <a:r>
              <a:rPr sz="2175" b="1" spc="217" baseline="30651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Sem,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Session:2026-27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(ODD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spc="-50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  <a:p>
            <a:pPr algn="ctr">
              <a:spcBef>
                <a:spcPts val="15"/>
              </a:spcBef>
            </a:pPr>
            <a:r>
              <a:rPr b="1" dirty="0">
                <a:latin typeface="Times New Roman"/>
                <a:cs typeface="Times New Roman"/>
              </a:rPr>
              <a:t>Department</a:t>
            </a:r>
            <a:r>
              <a:rPr b="1" spc="-7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of</a:t>
            </a:r>
            <a:r>
              <a:rPr b="1" spc="-6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Emerging</a:t>
            </a:r>
            <a:r>
              <a:rPr b="1" spc="-7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Technologies</a:t>
            </a:r>
            <a:r>
              <a:rPr b="1" spc="-7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(AI&amp;ML</a:t>
            </a:r>
            <a:r>
              <a:rPr b="1" spc="-70" dirty="0">
                <a:latin typeface="Times New Roman"/>
                <a:cs typeface="Times New Roman"/>
              </a:rPr>
              <a:t> </a:t>
            </a:r>
            <a:r>
              <a:rPr b="1" spc="-50" dirty="0">
                <a:latin typeface="Times New Roman"/>
                <a:cs typeface="Times New Roman"/>
              </a:rPr>
              <a:t>)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42454" y="6457188"/>
            <a:ext cx="8509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0985" y="165557"/>
            <a:ext cx="7886726" cy="10645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37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Why Do We Need to Study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1264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CCCE4"/>
                </a:solidFill>
                <a:latin typeface="Aptos"/>
              </a:defRPr>
            </a:pPr>
            <a:r>
              <a:t>The black-box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B2D33"/>
                </a:solidFill>
                <a:latin typeface="Aptos"/>
              </a:defRPr>
            </a:pPr>
            <a:r>
              <a:t>AI is increasingly used for decisions that affect people.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7124C"/>
                </a:solidFill>
                <a:latin typeface="Aptos"/>
              </a:defRPr>
            </a:pPr>
            <a:r>
              <a:t>TRADITIONAL BLACK-BOX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2151" y="2331720"/>
            <a:ext cx="1417320" cy="594360"/>
          </a:xfrm>
          <a:prstGeom prst="roundRect">
            <a:avLst/>
          </a:prstGeom>
          <a:solidFill>
            <a:srgbClr val="E2F7FC"/>
          </a:solidFill>
          <a:ln w="1397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7871" y="2593256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7124C"/>
                </a:solidFill>
                <a:latin typeface="Aptos"/>
              </a:defRPr>
            </a:pPr>
            <a:r>
              <a:rPr dirty="0"/>
              <a:t>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28800" y="2683811"/>
            <a:ext cx="640080" cy="0"/>
          </a:xfrm>
          <a:prstGeom prst="line">
            <a:avLst/>
          </a:prstGeom>
          <a:ln w="25400">
            <a:solidFill>
              <a:srgbClr val="23A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46020" y="2101643"/>
            <a:ext cx="1828800" cy="1234440"/>
          </a:xfrm>
          <a:prstGeom prst="roundRect">
            <a:avLst/>
          </a:prstGeom>
          <a:solidFill>
            <a:srgbClr val="37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21194" y="242822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 dirty="0"/>
              <a:t>ML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5291" y="273584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ptos"/>
              </a:defRPr>
            </a:pPr>
            <a:r>
              <a:rPr dirty="0"/>
              <a:t>BLACK BOX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4820" y="2707556"/>
            <a:ext cx="640080" cy="0"/>
          </a:xfrm>
          <a:prstGeom prst="line">
            <a:avLst/>
          </a:prstGeom>
          <a:ln w="25400">
            <a:solidFill>
              <a:srgbClr val="23A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58752" y="2396660"/>
            <a:ext cx="1417320" cy="594360"/>
          </a:xfrm>
          <a:prstGeom prst="roundRect">
            <a:avLst/>
          </a:prstGeom>
          <a:solidFill>
            <a:srgbClr val="E2F7FC"/>
          </a:solidFill>
          <a:ln w="1397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00152" y="2592371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7124C"/>
                </a:solidFill>
                <a:latin typeface="Aptos"/>
              </a:defRPr>
            </a:pPr>
            <a:r>
              <a:rPr dirty="0"/>
              <a:t>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35191" y="3861222"/>
            <a:ext cx="4251960" cy="914400"/>
          </a:xfrm>
          <a:prstGeom prst="roundRect">
            <a:avLst/>
          </a:prstGeom>
          <a:solidFill>
            <a:srgbClr val="F4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0" y="17830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7124C"/>
                </a:solidFill>
                <a:latin typeface="Aptos"/>
              </a:defRPr>
            </a:pPr>
            <a:r>
              <a:t>WHY UNDERSTANDING MATTERS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2240280"/>
            <a:ext cx="4251960" cy="914400"/>
          </a:xfrm>
          <a:prstGeom prst="roundRect">
            <a:avLst/>
          </a:prstGeom>
          <a:solidFill>
            <a:srgbClr val="E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64592" rtlCol="0" anchor="ctr"/>
          <a:lstStyle/>
          <a:p>
            <a:pPr algn="ctr">
              <a:spcAft>
                <a:spcPts val="400"/>
              </a:spcAft>
              <a:defRPr sz="1500" b="1">
                <a:solidFill>
                  <a:srgbClr val="37124C"/>
                </a:solidFill>
                <a:latin typeface="Aptos"/>
              </a:defRPr>
            </a:pPr>
            <a:r>
              <a:rPr sz="1600"/>
              <a:t>TRUST</a:t>
            </a:r>
          </a:p>
          <a:p>
            <a:pPr>
              <a:defRPr sz="1100">
                <a:solidFill>
                  <a:srgbClr val="2B2D33"/>
                </a:solidFill>
                <a:latin typeface="Aptos"/>
              </a:defRPr>
            </a:pPr>
            <a:r>
              <a:rPr sz="1200"/>
              <a:t>Users need reasons before relying on important AI decisions.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3337560"/>
            <a:ext cx="4251960" cy="914400"/>
          </a:xfrm>
          <a:prstGeom prst="roundRect">
            <a:avLst/>
          </a:prstGeom>
          <a:solidFill>
            <a:srgbClr val="F2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64592" rtlCol="0" anchor="ctr"/>
          <a:lstStyle/>
          <a:p>
            <a:pPr algn="ctr">
              <a:spcAft>
                <a:spcPts val="400"/>
              </a:spcAft>
              <a:defRPr sz="1500" b="1">
                <a:solidFill>
                  <a:srgbClr val="37124C"/>
                </a:solidFill>
                <a:latin typeface="Aptos"/>
              </a:defRPr>
            </a:pPr>
            <a:r>
              <a:rPr sz="1600"/>
              <a:t>FAIRNESS</a:t>
            </a:r>
          </a:p>
          <a:p>
            <a:pPr>
              <a:defRPr sz="1100">
                <a:solidFill>
                  <a:srgbClr val="2B2D33"/>
                </a:solidFill>
                <a:latin typeface="Aptos"/>
              </a:defRPr>
            </a:pPr>
            <a:r>
              <a:rPr sz="1200"/>
              <a:t>Explanations can help reveal unexpected or biased influences.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4434840"/>
            <a:ext cx="4251960" cy="914400"/>
          </a:xfrm>
          <a:prstGeom prst="roundRect">
            <a:avLst/>
          </a:prstGeom>
          <a:solidFill>
            <a:srgbClr val="F4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64592" rtlCol="0" anchor="ctr"/>
          <a:lstStyle/>
          <a:p>
            <a:pPr algn="ctr">
              <a:spcAft>
                <a:spcPts val="400"/>
              </a:spcAft>
              <a:defRPr sz="1500" b="1">
                <a:solidFill>
                  <a:srgbClr val="37124C"/>
                </a:solidFill>
                <a:latin typeface="Aptos"/>
              </a:defRPr>
            </a:pPr>
            <a:r>
              <a:rPr sz="1600"/>
              <a:t>ACCOUNTABILITY</a:t>
            </a:r>
          </a:p>
          <a:p>
            <a:pPr>
              <a:defRPr sz="1100">
                <a:solidFill>
                  <a:srgbClr val="2B2D33"/>
                </a:solidFill>
                <a:latin typeface="Aptos"/>
              </a:defRPr>
            </a:pPr>
            <a:r>
              <a:rPr sz="1200"/>
              <a:t>Organizations may need to justify, review and document outcomes.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05959"/>
            <a:ext cx="397763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7124C"/>
                </a:solidFill>
                <a:latin typeface="Aptos"/>
              </a:defRPr>
            </a:pPr>
            <a:r>
              <a:rPr dirty="0"/>
              <a:t>“Why did the model make this decision?”</a:t>
            </a:r>
          </a:p>
          <a:p>
            <a:pPr algn="ctr">
              <a:defRPr sz="950">
                <a:solidFill>
                  <a:srgbClr val="65676D"/>
                </a:solidFill>
                <a:latin typeface="Aptos"/>
              </a:defRPr>
            </a:pPr>
            <a:r>
              <a:rPr sz="1400" dirty="0"/>
              <a:t>The prediction alone does not answer the question</a:t>
            </a:r>
            <a:r>
              <a:rPr sz="105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37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Interpretability vs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1264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CCCE4"/>
                </a:solidFill>
                <a:latin typeface="Aptos"/>
              </a:defRPr>
            </a:pPr>
            <a:r>
              <a:t>Two related ideas — two different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5303520" cy="4709160"/>
          </a:xfrm>
          <a:prstGeom prst="roundRect">
            <a:avLst/>
          </a:prstGeom>
          <a:solidFill>
            <a:srgbClr val="E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7124C"/>
                </a:solidFill>
                <a:latin typeface="Aptos"/>
              </a:defRPr>
            </a:pPr>
            <a:r>
              <a:t>INTERPRETABILITY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3AFD8"/>
                </a:solidFill>
                <a:latin typeface="Aptos"/>
              </a:defRPr>
            </a:pPr>
            <a:r>
              <a:t>“HOW DOES IT WORK?”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B2D33"/>
                </a:solidFill>
                <a:latin typeface="Aptos"/>
              </a:defRPr>
            </a:pPr>
            <a:r>
              <a:t>Focuses on whether a human can understand the model’s internal logic, structure or reasoning process.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3657600"/>
            <a:ext cx="868680" cy="411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77440" y="3767328"/>
            <a:ext cx="868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124C"/>
                </a:solidFill>
                <a:latin typeface="Aptos"/>
              </a:defRPr>
            </a:pPr>
            <a:r>
              <a:rPr sz="1100"/>
              <a:t>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4434840"/>
            <a:ext cx="868680" cy="411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1417320" y="4544568"/>
            <a:ext cx="868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124C"/>
                </a:solidFill>
                <a:latin typeface="Aptos"/>
              </a:defRPr>
            </a:pPr>
            <a:r>
              <a:rPr sz="1100"/>
              <a:t>Yes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4434840"/>
            <a:ext cx="868680" cy="411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3337560" y="4544568"/>
            <a:ext cx="868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124C"/>
                </a:solidFill>
                <a:latin typeface="Aptos"/>
              </a:defRPr>
            </a:pPr>
            <a:r>
              <a:rPr sz="1100"/>
              <a:t>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5166360"/>
            <a:ext cx="868680" cy="411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1005840" y="5276088"/>
            <a:ext cx="868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124C"/>
                </a:solidFill>
                <a:latin typeface="Aptos"/>
              </a:defRPr>
            </a:pPr>
            <a:r>
              <a:rPr sz="1100"/>
              <a:t>Approve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5166360"/>
            <a:ext cx="868680" cy="411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2880360" y="5276088"/>
            <a:ext cx="868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124C"/>
                </a:solidFill>
                <a:latin typeface="Aptos"/>
              </a:defRPr>
            </a:pPr>
            <a:r>
              <a:rPr sz="1100"/>
              <a:t>Reject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4069080"/>
            <a:ext cx="987552" cy="365760"/>
          </a:xfrm>
          <a:prstGeom prst="line">
            <a:avLst/>
          </a:prstGeom>
          <a:ln w="25400">
            <a:solidFill>
              <a:srgbClr val="23A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816352" y="4069080"/>
            <a:ext cx="950976" cy="365760"/>
          </a:xfrm>
          <a:prstGeom prst="line">
            <a:avLst/>
          </a:prstGeom>
          <a:ln w="25400">
            <a:solidFill>
              <a:srgbClr val="23A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417320" y="4846320"/>
            <a:ext cx="429768" cy="320040"/>
          </a:xfrm>
          <a:prstGeom prst="line">
            <a:avLst/>
          </a:prstGeom>
          <a:ln w="25400">
            <a:solidFill>
              <a:srgbClr val="23A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310128" y="4846320"/>
            <a:ext cx="457200" cy="320040"/>
          </a:xfrm>
          <a:prstGeom prst="line">
            <a:avLst/>
          </a:prstGeom>
          <a:ln w="25400">
            <a:solidFill>
              <a:srgbClr val="23A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645920" y="5623560"/>
            <a:ext cx="3108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5676D"/>
                </a:solidFill>
                <a:latin typeface="Aptos"/>
              </a:defRPr>
            </a:pPr>
            <a:r>
              <a:rPr sz="1200"/>
              <a:t>Example: Decision Tree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280160"/>
            <a:ext cx="5303520" cy="4709160"/>
          </a:xfrm>
          <a:prstGeom prst="roundRect">
            <a:avLst/>
          </a:prstGeom>
          <a:solidFill>
            <a:srgbClr val="F2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1554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7124C"/>
                </a:solidFill>
                <a:latin typeface="Aptos"/>
              </a:defRPr>
            </a:pPr>
            <a:r>
              <a:t>EXPLAINABILITY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0574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3AFD8"/>
                </a:solidFill>
                <a:latin typeface="Aptos"/>
              </a:defRPr>
            </a:pPr>
            <a:r>
              <a:t>“WHY THIS PREDICTION?”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65176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B2D33"/>
                </a:solidFill>
                <a:latin typeface="Aptos"/>
              </a:defRPr>
            </a:pPr>
            <a:r>
              <a:t>Focuses on communicating understandable reasons for a model output, often using post-hoc methods.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6576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5676D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6576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5676D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069080"/>
            <a:ext cx="1188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5676D"/>
                </a:solidFill>
                <a:latin typeface="Aptos"/>
              </a:defRPr>
            </a:pPr>
            <a:r>
              <a:rPr sz="1100"/>
              <a:t>Income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4069080"/>
            <a:ext cx="2651760" cy="201168"/>
          </a:xfrm>
          <a:prstGeom prst="roundRect">
            <a:avLst/>
          </a:prstGeom>
          <a:solidFill>
            <a:srgbClr val="23A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TextBox 31"/>
          <p:cNvSpPr txBox="1"/>
          <p:nvPr/>
        </p:nvSpPr>
        <p:spPr>
          <a:xfrm>
            <a:off x="6720840" y="4453128"/>
            <a:ext cx="1188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5676D"/>
                </a:solidFill>
                <a:latin typeface="Aptos"/>
              </a:defRPr>
            </a:pPr>
            <a:r>
              <a:rPr sz="1100"/>
              <a:t>Credit score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4453128"/>
            <a:ext cx="2148840" cy="201168"/>
          </a:xfrm>
          <a:prstGeom prst="roundRect">
            <a:avLst/>
          </a:prstGeom>
          <a:solidFill>
            <a:srgbClr val="23A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TextBox 33"/>
          <p:cNvSpPr txBox="1"/>
          <p:nvPr/>
        </p:nvSpPr>
        <p:spPr>
          <a:xfrm>
            <a:off x="6720840" y="4837176"/>
            <a:ext cx="1188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5676D"/>
                </a:solidFill>
                <a:latin typeface="Aptos"/>
              </a:defRPr>
            </a:pPr>
            <a:r>
              <a:rPr sz="1100"/>
              <a:t>Loan amount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4837176"/>
            <a:ext cx="1554480" cy="201168"/>
          </a:xfrm>
          <a:prstGeom prst="roundRect">
            <a:avLst/>
          </a:prstGeom>
          <a:solidFill>
            <a:srgbClr val="23A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TextBox 35"/>
          <p:cNvSpPr txBox="1"/>
          <p:nvPr/>
        </p:nvSpPr>
        <p:spPr>
          <a:xfrm>
            <a:off x="6720840" y="5221224"/>
            <a:ext cx="1188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5676D"/>
                </a:solidFill>
                <a:latin typeface="Aptos"/>
              </a:defRPr>
            </a:pPr>
            <a:r>
              <a:rPr sz="1100"/>
              <a:t>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01000" y="5221224"/>
            <a:ext cx="822960" cy="201168"/>
          </a:xfrm>
          <a:prstGeom prst="roundRect">
            <a:avLst/>
          </a:prstGeom>
          <a:solidFill>
            <a:srgbClr val="23A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8321040" y="5623560"/>
            <a:ext cx="2468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5676D"/>
                </a:solidFill>
                <a:latin typeface="Aptos"/>
              </a:defRPr>
            </a:pPr>
            <a:r>
              <a:rPr sz="1200"/>
              <a:t>Example: SHAP-style 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37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Interpretability vs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12648"/>
            <a:ext cx="10789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CCCE4"/>
                </a:solidFill>
                <a:latin typeface="Aptos"/>
              </a:defRPr>
            </a:pPr>
            <a:r>
              <a:rPr sz="1100" dirty="0"/>
              <a:t>A visual comparison of the two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78992"/>
            <a:ext cx="10835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2D33"/>
                </a:solidFill>
                <a:latin typeface="Aptos"/>
              </a:defRPr>
            </a:pPr>
            <a:r>
              <a:t>The difference becomes clearer when we compare what is being explained, when, and for whom.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166360" cy="438912"/>
          </a:xfrm>
          <a:prstGeom prst="roundRect">
            <a:avLst/>
          </a:prstGeom>
          <a:solidFill>
            <a:srgbClr val="37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66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1400"/>
              <a:t>INTERPRETABILITY  •  MODEL-CENTRIC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45920"/>
            <a:ext cx="5166360" cy="438912"/>
          </a:xfrm>
          <a:prstGeom prst="roundRect">
            <a:avLst/>
          </a:prstGeom>
          <a:solidFill>
            <a:srgbClr val="23A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6355080" y="1773936"/>
            <a:ext cx="5166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1400"/>
              <a:t>EXPLAINABILITY  •  OUTPUT-CENTRIC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331720"/>
            <a:ext cx="384048" cy="384048"/>
          </a:xfrm>
          <a:prstGeom prst="roundRect">
            <a:avLst/>
          </a:prstGeom>
          <a:solidFill>
            <a:srgbClr val="E2F7FC"/>
          </a:solidFill>
          <a:ln w="1270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" name="TextBox 10"/>
          <p:cNvSpPr txBox="1"/>
          <p:nvPr/>
        </p:nvSpPr>
        <p:spPr>
          <a:xfrm>
            <a:off x="749808" y="2432303"/>
            <a:ext cx="384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124C"/>
                </a:solidFill>
                <a:latin typeface="Aptos"/>
              </a:defRPr>
            </a:pPr>
            <a:r>
              <a:rPr sz="120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368296"/>
            <a:ext cx="1051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7124C"/>
                </a:solidFill>
                <a:latin typeface="Aptos"/>
              </a:defRPr>
            </a:pPr>
            <a:r>
              <a:rPr sz="1400"/>
              <a:t>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2331720"/>
            <a:ext cx="1508760" cy="384048"/>
          </a:xfrm>
          <a:prstGeom prst="roundRect">
            <a:avLst/>
          </a:prstGeom>
          <a:solidFill>
            <a:srgbClr val="E2F7FC"/>
          </a:solidFill>
          <a:ln w="1270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2423160" y="2432303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124C"/>
                </a:solidFill>
                <a:latin typeface="Aptos"/>
              </a:defRPr>
            </a:pPr>
            <a:r>
              <a:rPr sz="1200"/>
              <a:t>GLOBAL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2322576"/>
            <a:ext cx="1828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0">
                <a:solidFill>
                  <a:srgbClr val="65676D"/>
                </a:solidFill>
                <a:latin typeface="Aptos"/>
              </a:defRPr>
            </a:pPr>
            <a:r>
              <a:rPr sz="1100" b="1" dirty="0"/>
              <a:t>Understand overall model behavior.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2395727"/>
            <a:ext cx="320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5676D"/>
                </a:solidFill>
                <a:latin typeface="Aptos"/>
              </a:defRPr>
            </a:pPr>
            <a:r>
              <a:rPr sz="1400"/>
              <a:t>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331720"/>
            <a:ext cx="1508760" cy="384048"/>
          </a:xfrm>
          <a:prstGeom prst="roundRect">
            <a:avLst/>
          </a:prstGeom>
          <a:solidFill>
            <a:srgbClr val="F2EAF7"/>
          </a:solidFill>
          <a:ln w="1270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6446520" y="2432303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124C"/>
                </a:solidFill>
                <a:latin typeface="Aptos"/>
              </a:defRPr>
            </a:pPr>
            <a:r>
              <a:rPr sz="1200"/>
              <a:t>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322576"/>
            <a:ext cx="2468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0">
                <a:solidFill>
                  <a:srgbClr val="65676D"/>
                </a:solidFill>
                <a:latin typeface="Aptos"/>
              </a:defRPr>
            </a:pPr>
            <a:r>
              <a:rPr sz="1100" b="1"/>
              <a:t>Explain one specific prediction.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108960"/>
            <a:ext cx="384048" cy="384048"/>
          </a:xfrm>
          <a:prstGeom prst="roundRect">
            <a:avLst/>
          </a:prstGeom>
          <a:solidFill>
            <a:srgbClr val="E2F7FC"/>
          </a:solidFill>
          <a:ln w="1270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1" name="TextBox 20"/>
          <p:cNvSpPr txBox="1"/>
          <p:nvPr/>
        </p:nvSpPr>
        <p:spPr>
          <a:xfrm>
            <a:off x="749808" y="3209544"/>
            <a:ext cx="384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124C"/>
                </a:solidFill>
                <a:latin typeface="Aptos"/>
              </a:defRPr>
            </a:pPr>
            <a:r>
              <a:rPr sz="1200"/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3145536"/>
            <a:ext cx="1051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7124C"/>
                </a:solidFill>
                <a:latin typeface="Aptos"/>
              </a:defRPr>
            </a:pPr>
            <a:r>
              <a:rPr sz="1400"/>
              <a:t>WHEN?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23160" y="3108960"/>
            <a:ext cx="1508760" cy="384048"/>
          </a:xfrm>
          <a:prstGeom prst="roundRect">
            <a:avLst/>
          </a:prstGeom>
          <a:solidFill>
            <a:srgbClr val="E2F7FC"/>
          </a:solidFill>
          <a:ln w="1270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2423160" y="3209544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124C"/>
                </a:solidFill>
                <a:latin typeface="Aptos"/>
              </a:defRPr>
            </a:pPr>
            <a:r>
              <a:rPr sz="1200"/>
              <a:t>BEFORE / DURING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3099816"/>
            <a:ext cx="1828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0">
                <a:solidFill>
                  <a:srgbClr val="65676D"/>
                </a:solidFill>
                <a:latin typeface="Aptos"/>
              </a:defRPr>
            </a:pPr>
            <a:r>
              <a:rPr sz="1200" b="1"/>
              <a:t>Transparency is designed into the model.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61888" y="3172968"/>
            <a:ext cx="320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5676D"/>
                </a:solidFill>
                <a:latin typeface="Aptos"/>
              </a:defRPr>
            </a:pPr>
            <a:r>
              <a:rPr sz="1400"/>
              <a:t>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3108960"/>
            <a:ext cx="1508760" cy="384048"/>
          </a:xfrm>
          <a:prstGeom prst="roundRect">
            <a:avLst/>
          </a:prstGeom>
          <a:solidFill>
            <a:srgbClr val="F2EAF7"/>
          </a:solidFill>
          <a:ln w="1270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TextBox 27"/>
          <p:cNvSpPr txBox="1"/>
          <p:nvPr/>
        </p:nvSpPr>
        <p:spPr>
          <a:xfrm>
            <a:off x="6446520" y="3209544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124C"/>
                </a:solidFill>
                <a:latin typeface="Aptos"/>
              </a:defRPr>
            </a:pPr>
            <a:r>
              <a:rPr sz="1200"/>
              <a:t>AFTER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099816"/>
            <a:ext cx="2468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0">
                <a:solidFill>
                  <a:srgbClr val="65676D"/>
                </a:solidFill>
                <a:latin typeface="Aptos"/>
              </a:defRPr>
            </a:pPr>
            <a:r>
              <a:rPr sz="1200" b="1"/>
              <a:t>An explanation is generated after training.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3886200"/>
            <a:ext cx="384048" cy="384048"/>
          </a:xfrm>
          <a:prstGeom prst="roundRect">
            <a:avLst/>
          </a:prstGeom>
          <a:solidFill>
            <a:srgbClr val="E2F7FC"/>
          </a:solidFill>
          <a:ln w="1270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1" name="TextBox 30"/>
          <p:cNvSpPr txBox="1"/>
          <p:nvPr/>
        </p:nvSpPr>
        <p:spPr>
          <a:xfrm>
            <a:off x="749808" y="3986784"/>
            <a:ext cx="384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124C"/>
                </a:solidFill>
                <a:latin typeface="Aptos"/>
              </a:defRPr>
            </a:pPr>
            <a:r>
              <a:rPr sz="120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1872" y="3922776"/>
            <a:ext cx="1051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7124C"/>
                </a:solidFill>
                <a:latin typeface="Aptos"/>
              </a:defRPr>
            </a:pPr>
            <a:r>
              <a:rPr sz="1400"/>
              <a:t>WHAT?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23160" y="3886200"/>
            <a:ext cx="1508760" cy="384048"/>
          </a:xfrm>
          <a:prstGeom prst="roundRect">
            <a:avLst/>
          </a:prstGeom>
          <a:solidFill>
            <a:srgbClr val="E2F7FC"/>
          </a:solidFill>
          <a:ln w="1270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4" name="TextBox 33"/>
          <p:cNvSpPr txBox="1"/>
          <p:nvPr/>
        </p:nvSpPr>
        <p:spPr>
          <a:xfrm>
            <a:off x="2423160" y="3986784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124C"/>
                </a:solidFill>
                <a:latin typeface="Aptos"/>
              </a:defRPr>
            </a:pPr>
            <a:r>
              <a:rPr sz="1200"/>
              <a:t>MODEL LOGIC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80" y="3877056"/>
            <a:ext cx="1828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0">
                <a:solidFill>
                  <a:srgbClr val="65676D"/>
                </a:solidFill>
                <a:latin typeface="Aptos"/>
              </a:defRPr>
            </a:pPr>
            <a:r>
              <a:rPr sz="1200" b="1"/>
              <a:t>Focus: structure, rules, weights.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61888" y="3950208"/>
            <a:ext cx="320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5676D"/>
                </a:solidFill>
                <a:latin typeface="Aptos"/>
              </a:defRPr>
            </a:pPr>
            <a:r>
              <a:rPr sz="1400"/>
              <a:t>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46520" y="3886200"/>
            <a:ext cx="1508760" cy="384048"/>
          </a:xfrm>
          <a:prstGeom prst="roundRect">
            <a:avLst/>
          </a:prstGeom>
          <a:solidFill>
            <a:srgbClr val="F2EAF7"/>
          </a:solidFill>
          <a:ln w="1270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8" name="TextBox 37"/>
          <p:cNvSpPr txBox="1"/>
          <p:nvPr/>
        </p:nvSpPr>
        <p:spPr>
          <a:xfrm>
            <a:off x="6446520" y="3986784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124C"/>
                </a:solidFill>
                <a:latin typeface="Aptos"/>
              </a:defRPr>
            </a:pPr>
            <a:r>
              <a:rPr sz="1200"/>
              <a:t>MODEL 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3877056"/>
            <a:ext cx="2468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0">
                <a:solidFill>
                  <a:srgbClr val="65676D"/>
                </a:solidFill>
                <a:latin typeface="Aptos"/>
              </a:defRPr>
            </a:pPr>
            <a:r>
              <a:rPr sz="1200" b="1"/>
              <a:t>Focus: reasons behind a result.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8" y="4663440"/>
            <a:ext cx="384048" cy="384048"/>
          </a:xfrm>
          <a:prstGeom prst="roundRect">
            <a:avLst/>
          </a:prstGeom>
          <a:solidFill>
            <a:srgbClr val="E2F7FC"/>
          </a:solidFill>
          <a:ln w="1270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1" name="TextBox 40"/>
          <p:cNvSpPr txBox="1"/>
          <p:nvPr/>
        </p:nvSpPr>
        <p:spPr>
          <a:xfrm>
            <a:off x="749808" y="4764024"/>
            <a:ext cx="384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124C"/>
                </a:solidFill>
                <a:latin typeface="Aptos"/>
              </a:defRPr>
            </a:pPr>
            <a:r>
              <a:rPr sz="1200"/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61872" y="4700016"/>
            <a:ext cx="1051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7124C"/>
                </a:solidFill>
                <a:latin typeface="Aptos"/>
              </a:defRPr>
            </a:pPr>
            <a:r>
              <a:rPr sz="1400"/>
              <a:t>WHO?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23160" y="4663440"/>
            <a:ext cx="1508760" cy="384048"/>
          </a:xfrm>
          <a:prstGeom prst="roundRect">
            <a:avLst/>
          </a:prstGeom>
          <a:solidFill>
            <a:srgbClr val="E2F7FC"/>
          </a:solidFill>
          <a:ln w="1270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4" name="TextBox 43"/>
          <p:cNvSpPr txBox="1"/>
          <p:nvPr/>
        </p:nvSpPr>
        <p:spPr>
          <a:xfrm>
            <a:off x="2423160" y="4764024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124C"/>
                </a:solidFill>
                <a:latin typeface="Aptos"/>
              </a:defRPr>
            </a:pPr>
            <a:r>
              <a:rPr sz="1200"/>
              <a:t>DEVELOPER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69080" y="4654296"/>
            <a:ext cx="1828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0">
                <a:solidFill>
                  <a:srgbClr val="65676D"/>
                </a:solidFill>
                <a:latin typeface="Aptos"/>
              </a:defRPr>
            </a:pPr>
            <a:r>
              <a:rPr sz="1200" b="1"/>
              <a:t>Useful for building, debugging and validating.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61888" y="4727448"/>
            <a:ext cx="320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5676D"/>
                </a:solidFill>
                <a:latin typeface="Aptos"/>
              </a:defRPr>
            </a:pPr>
            <a:r>
              <a:rPr sz="1400"/>
              <a:t>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46520" y="4663440"/>
            <a:ext cx="1508760" cy="384048"/>
          </a:xfrm>
          <a:prstGeom prst="roundRect">
            <a:avLst/>
          </a:prstGeom>
          <a:solidFill>
            <a:srgbClr val="F2EAF7"/>
          </a:solidFill>
          <a:ln w="1270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8" name="TextBox 47"/>
          <p:cNvSpPr txBox="1"/>
          <p:nvPr/>
        </p:nvSpPr>
        <p:spPr>
          <a:xfrm>
            <a:off x="6446520" y="4764024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124C"/>
                </a:solidFill>
                <a:latin typeface="Aptos"/>
              </a:defRPr>
            </a:pPr>
            <a:r>
              <a:rPr sz="1200"/>
              <a:t>DECISION MAKER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4654296"/>
            <a:ext cx="2468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0">
                <a:solidFill>
                  <a:srgbClr val="65676D"/>
                </a:solidFill>
                <a:latin typeface="Aptos"/>
              </a:defRPr>
            </a:pPr>
            <a:r>
              <a:rPr sz="1200" b="1"/>
              <a:t>Useful for reviewing, communicating and acting.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5840" y="5596128"/>
            <a:ext cx="10149840" cy="502920"/>
          </a:xfrm>
          <a:prstGeom prst="roundRect">
            <a:avLst/>
          </a:prstGeom>
          <a:solidFill>
            <a:srgbClr val="F4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1" name="TextBox 50"/>
          <p:cNvSpPr txBox="1"/>
          <p:nvPr/>
        </p:nvSpPr>
        <p:spPr>
          <a:xfrm>
            <a:off x="1143000" y="5742432"/>
            <a:ext cx="9875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37124C"/>
                </a:solidFill>
                <a:latin typeface="Aptos"/>
              </a:defRPr>
            </a:pPr>
            <a:r>
              <a:rPr sz="1400"/>
              <a:t>SIMPLE RULE  →  Interpretability = “Can I understand the model?”   |   Explainability = “Can I understand this result?”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37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rPr sz="2800"/>
              <a:t>Techniques &amp;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12648"/>
            <a:ext cx="10789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CCCE4"/>
                </a:solidFill>
                <a:latin typeface="Aptos"/>
              </a:defRPr>
            </a:pPr>
            <a:r>
              <a:rPr sz="1000"/>
              <a:t>How do we actually make AI understandable?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8356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B2D33"/>
                </a:solidFill>
                <a:latin typeface="Aptos"/>
              </a:defRPr>
            </a:pPr>
            <a:r>
              <a:t>There are two main strategies: make the model transparent, or explain a complex model after training.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257800" cy="438912"/>
          </a:xfrm>
          <a:prstGeom prst="roundRect">
            <a:avLst/>
          </a:prstGeom>
          <a:solidFill>
            <a:srgbClr val="37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685800" y="1819656"/>
            <a:ext cx="5257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sz="1400"/>
              <a:t>A  •  INTERPRETABLE BY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91640"/>
            <a:ext cx="5257800" cy="438912"/>
          </a:xfrm>
          <a:prstGeom prst="roundRect">
            <a:avLst/>
          </a:prstGeom>
          <a:solidFill>
            <a:srgbClr val="23A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6263640" y="1819656"/>
            <a:ext cx="5257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sz="1400"/>
              <a:t>B  •  POST-HOC EXPLANATION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31720"/>
            <a:ext cx="2423160" cy="1143000"/>
          </a:xfrm>
          <a:prstGeom prst="roundRect">
            <a:avLst/>
          </a:prstGeom>
          <a:solidFill>
            <a:srgbClr val="E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923544" y="2441448"/>
            <a:ext cx="2130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124C"/>
                </a:solidFill>
                <a:latin typeface="Aptos"/>
              </a:defRPr>
            </a:pPr>
            <a:r>
              <a:rPr sz="1400"/>
              <a:t>DECISION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675727"/>
            <a:ext cx="21305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B2D33"/>
                </a:solidFill>
                <a:latin typeface="Aptos"/>
              </a:defRPr>
            </a:pPr>
            <a:r>
              <a:rPr sz="1200" dirty="0"/>
              <a:t>Branches show the decision path.</a:t>
            </a:r>
            <a:br>
              <a:rPr sz="1200" dirty="0"/>
            </a:br>
            <a:r>
              <a:rPr sz="1200" dirty="0"/>
              <a:t>Best for: rules &amp; classification</a:t>
            </a:r>
            <a:r>
              <a:rPr sz="1100"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331720"/>
            <a:ext cx="2423160" cy="1143000"/>
          </a:xfrm>
          <a:prstGeom prst="roundRect">
            <a:avLst/>
          </a:prstGeom>
          <a:solidFill>
            <a:srgbClr val="E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3529584" y="2441448"/>
            <a:ext cx="2130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124C"/>
                </a:solidFill>
                <a:latin typeface="Aptos"/>
              </a:defRPr>
            </a:pPr>
            <a:r>
              <a:rPr sz="1400"/>
              <a:t>LINEAR / LOGISTIC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2743200"/>
            <a:ext cx="2130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B2D33"/>
                </a:solidFill>
                <a:latin typeface="Aptos"/>
              </a:defRPr>
            </a:pPr>
            <a:r>
              <a:rPr sz="1200" dirty="0"/>
              <a:t>Coefficients show direction and strength.</a:t>
            </a:r>
            <a:br>
              <a:rPr sz="1200" dirty="0"/>
            </a:br>
            <a:r>
              <a:rPr sz="1200" dirty="0"/>
              <a:t>Best for: tabular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611880"/>
            <a:ext cx="2423160" cy="1143000"/>
          </a:xfrm>
          <a:prstGeom prst="roundRect">
            <a:avLst/>
          </a:prstGeom>
          <a:solidFill>
            <a:srgbClr val="E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923544" y="3721608"/>
            <a:ext cx="2130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124C"/>
                </a:solidFill>
                <a:latin typeface="Aptos"/>
              </a:defRPr>
            </a:pPr>
            <a:r>
              <a:rPr sz="1400"/>
              <a:t>RULE-BASED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" y="4023360"/>
            <a:ext cx="2130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B2D33"/>
                </a:solidFill>
                <a:latin typeface="Aptos"/>
              </a:defRPr>
            </a:pPr>
            <a:r>
              <a:rPr sz="1200" dirty="0"/>
              <a:t>Explicit IF–THEN rules.</a:t>
            </a:r>
            <a:br>
              <a:rPr sz="1200" dirty="0"/>
            </a:br>
            <a:r>
              <a:rPr sz="1200" dirty="0"/>
              <a:t>Very easy to inspect</a:t>
            </a:r>
            <a:r>
              <a:rPr sz="1100" dirty="0"/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611880"/>
            <a:ext cx="2423160" cy="1143000"/>
          </a:xfrm>
          <a:prstGeom prst="roundRect">
            <a:avLst/>
          </a:prstGeom>
          <a:solidFill>
            <a:srgbClr val="E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3529584" y="3721608"/>
            <a:ext cx="2130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124C"/>
                </a:solidFill>
                <a:latin typeface="Aptos"/>
              </a:defRPr>
            </a:pPr>
            <a:r>
              <a:rPr sz="1400"/>
              <a:t>GAM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9584" y="4023360"/>
            <a:ext cx="2130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B2D33"/>
                </a:solidFill>
                <a:latin typeface="Aptos"/>
              </a:defRPr>
            </a:pPr>
            <a:r>
              <a:rPr sz="1200" dirty="0"/>
              <a:t>Shows feature-wise effects.</a:t>
            </a:r>
            <a:br>
              <a:rPr sz="1200" dirty="0"/>
            </a:br>
            <a:r>
              <a:rPr sz="1200" dirty="0"/>
              <a:t>More flexible than simple linear models.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983480"/>
            <a:ext cx="5029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960120" y="5120640"/>
            <a:ext cx="4663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37124C"/>
                </a:solidFill>
                <a:latin typeface="Aptos"/>
              </a:defRPr>
            </a:pPr>
            <a:r>
              <a:rPr sz="1100"/>
              <a:t>STRENGTH  →  Reasoning is visible in the model itself.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2331720"/>
            <a:ext cx="2423160" cy="1143000"/>
          </a:xfrm>
          <a:prstGeom prst="roundRect">
            <a:avLst/>
          </a:prstGeom>
          <a:solidFill>
            <a:srgbClr val="F2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6501384" y="2441448"/>
            <a:ext cx="2130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124C"/>
                </a:solidFill>
                <a:latin typeface="Aptos"/>
              </a:defRPr>
            </a:pPr>
            <a:r>
              <a:rPr sz="1400"/>
              <a:t>SHAP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4" y="2743200"/>
            <a:ext cx="2130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B2D33"/>
                </a:solidFill>
                <a:latin typeface="Aptos"/>
              </a:defRPr>
            </a:pPr>
            <a:r>
              <a:rPr sz="1200" dirty="0"/>
              <a:t>Measures each feature's contribution to a prediction.</a:t>
            </a:r>
            <a:br>
              <a:rPr sz="1200" dirty="0"/>
            </a:br>
            <a:r>
              <a:rPr sz="1200" dirty="0"/>
              <a:t>Global + local views.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2331720"/>
            <a:ext cx="2423160" cy="1143000"/>
          </a:xfrm>
          <a:prstGeom prst="roundRect">
            <a:avLst/>
          </a:prstGeom>
          <a:solidFill>
            <a:srgbClr val="F2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9107424" y="2441448"/>
            <a:ext cx="2130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124C"/>
                </a:solidFill>
                <a:latin typeface="Aptos"/>
              </a:defRPr>
            </a:pPr>
            <a:r>
              <a:rPr sz="1400"/>
              <a:t>LIME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7424" y="2743200"/>
            <a:ext cx="2130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B2D33"/>
                </a:solidFill>
                <a:latin typeface="Aptos"/>
              </a:defRPr>
            </a:pPr>
            <a:r>
              <a:rPr sz="1200" dirty="0"/>
              <a:t>Builds a simple local approximation around one prediction.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3611880"/>
            <a:ext cx="2423160" cy="1143000"/>
          </a:xfrm>
          <a:prstGeom prst="roundRect">
            <a:avLst/>
          </a:prstGeom>
          <a:solidFill>
            <a:srgbClr val="F2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6501384" y="3721608"/>
            <a:ext cx="2130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124C"/>
                </a:solidFill>
                <a:latin typeface="Aptos"/>
              </a:defRPr>
            </a:pPr>
            <a:r>
              <a:rPr sz="1400"/>
              <a:t>FEATURE IMPORTANCE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1384" y="4023360"/>
            <a:ext cx="2130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B2D33"/>
                </a:solidFill>
                <a:latin typeface="Aptos"/>
              </a:defRPr>
            </a:pPr>
            <a:r>
              <a:rPr sz="1200" dirty="0"/>
              <a:t>Ranks influential features for a model or dataset.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3611880"/>
            <a:ext cx="2423160" cy="1143000"/>
          </a:xfrm>
          <a:prstGeom prst="roundRect">
            <a:avLst/>
          </a:prstGeom>
          <a:solidFill>
            <a:srgbClr val="F2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TextBox 33"/>
          <p:cNvSpPr txBox="1"/>
          <p:nvPr/>
        </p:nvSpPr>
        <p:spPr>
          <a:xfrm>
            <a:off x="9107424" y="3721608"/>
            <a:ext cx="2130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124C"/>
                </a:solidFill>
                <a:latin typeface="Aptos"/>
              </a:defRPr>
            </a:pPr>
            <a:r>
              <a:rPr sz="1400"/>
              <a:t>SALIENCY MAPS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14607" y="4050792"/>
            <a:ext cx="21305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B2D33"/>
                </a:solidFill>
                <a:latin typeface="Aptos"/>
              </a:defRPr>
            </a:pPr>
            <a:r>
              <a:rPr sz="1400" dirty="0"/>
              <a:t>Highlights influential regions in images/signals.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4983480"/>
            <a:ext cx="5029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7" name="TextBox 36"/>
          <p:cNvSpPr txBox="1"/>
          <p:nvPr/>
        </p:nvSpPr>
        <p:spPr>
          <a:xfrm>
            <a:off x="6537960" y="5120640"/>
            <a:ext cx="4663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37124C"/>
                </a:solidFill>
                <a:latin typeface="Aptos"/>
              </a:defRPr>
            </a:pPr>
            <a:r>
              <a:rPr sz="1100"/>
              <a:t>STRENGTH  →  Can explain complex / black-box models.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5852160"/>
            <a:ext cx="2194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65676D"/>
                </a:solidFill>
                <a:latin typeface="Aptos"/>
              </a:defRPr>
            </a:pPr>
            <a:r>
              <a:rPr sz="1000"/>
              <a:t>CHOOSE A MODEL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069080" y="5961888"/>
            <a:ext cx="1371600" cy="0"/>
          </a:xfrm>
          <a:prstGeom prst="line">
            <a:avLst/>
          </a:prstGeom>
          <a:ln w="22860">
            <a:solidFill>
              <a:srgbClr val="371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40680" y="5852160"/>
            <a:ext cx="1371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37124C"/>
                </a:solidFill>
                <a:latin typeface="Aptos"/>
              </a:defRPr>
            </a:pPr>
            <a:r>
              <a:rPr sz="1000"/>
              <a:t>OR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20840" y="5961888"/>
            <a:ext cx="1325880" cy="0"/>
          </a:xfrm>
          <a:prstGeom prst="line">
            <a:avLst/>
          </a:prstGeom>
          <a:ln w="22860">
            <a:solidFill>
              <a:srgbClr val="23A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001000" y="5852160"/>
            <a:ext cx="23774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65676D"/>
                </a:solidFill>
                <a:latin typeface="Aptos"/>
              </a:defRPr>
            </a:pPr>
            <a:r>
              <a:rPr sz="1000"/>
              <a:t>EXPLAIN A MODEL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37960"/>
            <a:ext cx="111556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FFFFFF"/>
                </a:solidFill>
                <a:latin typeface="Aptos"/>
              </a:defRPr>
            </a:pPr>
            <a:r>
              <a:rPr sz="800"/>
              <a:t>Examples: Decision Trees, Linear Models, GAMs, SHAP, LIME and feature-importance methods. SHAP: Lundberg &amp; Lee (2017); LIME: Ribeiro et al. (2016).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37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Real-World Example: AI Medical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1264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CCCE4"/>
                </a:solidFill>
                <a:latin typeface="Aptos"/>
              </a:defRPr>
            </a:pPr>
            <a:r>
              <a:t>One prediction — two different explanations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10835640" cy="640080"/>
          </a:xfrm>
          <a:prstGeom prst="roundRect">
            <a:avLst/>
          </a:prstGeom>
          <a:solidFill>
            <a:srgbClr val="F4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298448"/>
            <a:ext cx="10378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7124C"/>
                </a:solidFill>
                <a:latin typeface="Aptos"/>
              </a:defRPr>
            </a:pPr>
            <a:r>
              <a:rPr sz="1600"/>
              <a:t>CASE: An AI system predicts a patient's disease risk as 82%. A doctor asks: “Why?”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7124C"/>
                </a:solidFill>
                <a:latin typeface="Aptos"/>
              </a:defRPr>
            </a:pPr>
            <a:r>
              <a:t>PATIENT INPUTS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2148840" cy="347472"/>
          </a:xfrm>
          <a:prstGeom prst="roundRect">
            <a:avLst/>
          </a:prstGeom>
          <a:solidFill>
            <a:srgbClr val="E2F7FC"/>
          </a:solidFill>
          <a:ln w="1270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896112" y="2414015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37124C"/>
                </a:solidFill>
                <a:latin typeface="Aptos"/>
              </a:defRPr>
            </a:pPr>
            <a:r>
              <a:rPr sz="1100"/>
              <a:t>Glucose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14015"/>
            <a:ext cx="960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2B2D33"/>
                </a:solidFill>
                <a:latin typeface="Aptos"/>
              </a:defRPr>
            </a:pPr>
            <a:r>
              <a:rPr sz="1100"/>
              <a:t>168 mg/dL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07208"/>
            <a:ext cx="2148840" cy="347472"/>
          </a:xfrm>
          <a:prstGeom prst="roundRect">
            <a:avLst/>
          </a:prstGeom>
          <a:solidFill>
            <a:srgbClr val="E2F7FC"/>
          </a:solidFill>
          <a:ln w="1270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896112" y="2889503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37124C"/>
                </a:solidFill>
                <a:latin typeface="Aptos"/>
              </a:defRPr>
            </a:pPr>
            <a:r>
              <a:rPr sz="1100"/>
              <a:t>BMI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889503"/>
            <a:ext cx="960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2B2D33"/>
                </a:solidFill>
                <a:latin typeface="Aptos"/>
              </a:defRPr>
            </a:pPr>
            <a:r>
              <a:rPr sz="1100"/>
              <a:t>31.2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82696"/>
            <a:ext cx="2148840" cy="347472"/>
          </a:xfrm>
          <a:prstGeom prst="roundRect">
            <a:avLst/>
          </a:prstGeom>
          <a:solidFill>
            <a:srgbClr val="E2F7FC"/>
          </a:solidFill>
          <a:ln w="1270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896112" y="3364991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37124C"/>
                </a:solidFill>
                <a:latin typeface="Aptos"/>
              </a:defRPr>
            </a:pPr>
            <a:r>
              <a:rPr sz="1100"/>
              <a:t>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364991"/>
            <a:ext cx="960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2B2D33"/>
                </a:solidFill>
                <a:latin typeface="Aptos"/>
              </a:defRPr>
            </a:pPr>
            <a:r>
              <a:rPr sz="1100"/>
              <a:t>56 years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58182"/>
            <a:ext cx="2194560" cy="513183"/>
          </a:xfrm>
          <a:prstGeom prst="roundRect">
            <a:avLst/>
          </a:prstGeom>
          <a:solidFill>
            <a:srgbClr val="E2F7FC"/>
          </a:solidFill>
          <a:ln w="1270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896112" y="3840479"/>
            <a:ext cx="914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37124C"/>
                </a:solidFill>
                <a:latin typeface="Aptos"/>
              </a:defRPr>
            </a:pPr>
            <a:r>
              <a:rPr sz="1100"/>
              <a:t>Blood Pressure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840479"/>
            <a:ext cx="960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2B2D33"/>
                </a:solidFill>
                <a:latin typeface="Aptos"/>
              </a:defRPr>
            </a:pPr>
            <a:r>
              <a:rPr sz="1100"/>
              <a:t>148 mmHg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2788920"/>
            <a:ext cx="1828800" cy="685800"/>
          </a:xfrm>
          <a:prstGeom prst="roundRect">
            <a:avLst/>
          </a:prstGeom>
          <a:solidFill>
            <a:srgbClr val="37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3246120" y="2944368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AI MODEL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971800" y="3127248"/>
            <a:ext cx="228600" cy="0"/>
          </a:xfrm>
          <a:prstGeom prst="line">
            <a:avLst/>
          </a:prstGeom>
          <a:ln w="22860">
            <a:solidFill>
              <a:srgbClr val="371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102352" y="3127248"/>
            <a:ext cx="612648" cy="0"/>
          </a:xfrm>
          <a:prstGeom prst="line">
            <a:avLst/>
          </a:prstGeom>
          <a:ln w="22860">
            <a:solidFill>
              <a:srgbClr val="371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60720" y="2606040"/>
            <a:ext cx="1828800" cy="1005840"/>
          </a:xfrm>
          <a:prstGeom prst="roundRect">
            <a:avLst/>
          </a:prstGeom>
          <a:solidFill>
            <a:srgbClr val="F2EAF7"/>
          </a:solidFill>
          <a:ln w="1270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TextBox 24"/>
          <p:cNvSpPr txBox="1"/>
          <p:nvPr/>
        </p:nvSpPr>
        <p:spPr>
          <a:xfrm>
            <a:off x="5760720" y="2788920"/>
            <a:ext cx="1828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7124C"/>
                </a:solidFill>
                <a:latin typeface="Aptos"/>
              </a:defRPr>
            </a:pPr>
            <a:r>
              <a:rPr sz="2400" dirty="0"/>
              <a:t>RISK = 82%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3016" y="3136391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A5353"/>
                </a:solidFill>
                <a:latin typeface="Aptos"/>
              </a:defRPr>
            </a:pPr>
            <a:r>
              <a:rPr sz="1200"/>
              <a:t>HIGH RISK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1828800"/>
            <a:ext cx="3650226" cy="2423826"/>
          </a:xfrm>
          <a:prstGeom prst="roundRect">
            <a:avLst/>
          </a:prstGeom>
          <a:solidFill>
            <a:srgbClr val="E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8229600" y="2057400"/>
            <a:ext cx="2971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7124C"/>
                </a:solidFill>
                <a:latin typeface="Aptos"/>
              </a:defRPr>
            </a:pPr>
            <a:r>
              <a:t>INTERPRETABILITY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487168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B2D33"/>
                </a:solidFill>
                <a:latin typeface="Aptos"/>
              </a:defRPr>
            </a:pPr>
            <a:r>
              <a:rPr sz="1600"/>
              <a:t>Decision-tree path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2852928"/>
            <a:ext cx="132588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/>
          <p:cNvSpPr txBox="1"/>
          <p:nvPr/>
        </p:nvSpPr>
        <p:spPr>
          <a:xfrm>
            <a:off x="9189720" y="2935224"/>
            <a:ext cx="1325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7124C"/>
                </a:solidFill>
                <a:latin typeface="Aptos"/>
              </a:defRPr>
            </a:pPr>
            <a:r>
              <a:rPr sz="1000"/>
              <a:t>Glucose &gt; 140?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66760" y="3383280"/>
            <a:ext cx="132588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TextBox 32"/>
          <p:cNvSpPr txBox="1"/>
          <p:nvPr/>
        </p:nvSpPr>
        <p:spPr>
          <a:xfrm>
            <a:off x="8366760" y="3465576"/>
            <a:ext cx="1325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7124C"/>
                </a:solidFill>
                <a:latin typeface="Aptos"/>
              </a:defRPr>
            </a:pPr>
            <a:r>
              <a:rPr sz="1000"/>
              <a:t>YES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04120" y="3383280"/>
            <a:ext cx="132588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TextBox 34"/>
          <p:cNvSpPr txBox="1"/>
          <p:nvPr/>
        </p:nvSpPr>
        <p:spPr>
          <a:xfrm>
            <a:off x="10104120" y="3465576"/>
            <a:ext cx="1325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7124C"/>
                </a:solidFill>
                <a:latin typeface="Aptos"/>
              </a:defRPr>
            </a:pPr>
            <a:r>
              <a:rPr sz="1000"/>
              <a:t>NO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79" y="3794760"/>
            <a:ext cx="132588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7" name="TextBox 36"/>
          <p:cNvSpPr txBox="1"/>
          <p:nvPr/>
        </p:nvSpPr>
        <p:spPr>
          <a:xfrm>
            <a:off x="8183879" y="3877056"/>
            <a:ext cx="1325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7124C"/>
                </a:solidFill>
                <a:latin typeface="Aptos"/>
              </a:defRPr>
            </a:pPr>
            <a:r>
              <a:rPr sz="1000"/>
              <a:t>HIGH RISK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66960" y="3794760"/>
            <a:ext cx="132588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9" name="TextBox 38"/>
          <p:cNvSpPr txBox="1"/>
          <p:nvPr/>
        </p:nvSpPr>
        <p:spPr>
          <a:xfrm>
            <a:off x="9966960" y="3877056"/>
            <a:ext cx="1325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7124C"/>
                </a:solidFill>
                <a:latin typeface="Aptos"/>
              </a:defRPr>
            </a:pPr>
            <a:r>
              <a:rPr sz="1000"/>
              <a:t>LOWER RISK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9034272" y="3163824"/>
            <a:ext cx="813816" cy="219456"/>
          </a:xfrm>
          <a:prstGeom prst="line">
            <a:avLst/>
          </a:prstGeom>
          <a:ln w="16510">
            <a:solidFill>
              <a:srgbClr val="23A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848088" y="3163824"/>
            <a:ext cx="896112" cy="219456"/>
          </a:xfrm>
          <a:prstGeom prst="line">
            <a:avLst/>
          </a:prstGeom>
          <a:ln w="16510">
            <a:solidFill>
              <a:srgbClr val="23A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8842248" y="3694176"/>
            <a:ext cx="192024" cy="100584"/>
          </a:xfrm>
          <a:prstGeom prst="line">
            <a:avLst/>
          </a:prstGeom>
          <a:ln w="16510">
            <a:solidFill>
              <a:srgbClr val="23A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10607040" y="3694176"/>
            <a:ext cx="155448" cy="100584"/>
          </a:xfrm>
          <a:prstGeom prst="line">
            <a:avLst/>
          </a:prstGeom>
          <a:ln w="16510">
            <a:solidFill>
              <a:srgbClr val="23A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2720340" y="4345291"/>
            <a:ext cx="8183879" cy="1600200"/>
          </a:xfrm>
          <a:prstGeom prst="roundRect">
            <a:avLst/>
          </a:prstGeom>
          <a:solidFill>
            <a:srgbClr val="F2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5" name="TextBox 44"/>
          <p:cNvSpPr txBox="1"/>
          <p:nvPr/>
        </p:nvSpPr>
        <p:spPr>
          <a:xfrm>
            <a:off x="3520440" y="4370832"/>
            <a:ext cx="7635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7124C"/>
                </a:solidFill>
                <a:latin typeface="Aptos"/>
              </a:defRPr>
            </a:pPr>
            <a:r>
              <a:t>EXPLAINABILITY: FEATURE CONTRIBUTIONS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4773168"/>
            <a:ext cx="1143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5676D"/>
                </a:solidFill>
                <a:latin typeface="Aptos"/>
              </a:defRPr>
            </a:pPr>
            <a:r>
              <a:rPr sz="1050"/>
              <a:t>Glucose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92040" y="4782312"/>
            <a:ext cx="3566160" cy="146304"/>
          </a:xfrm>
          <a:prstGeom prst="roundRect">
            <a:avLst/>
          </a:prstGeom>
          <a:solidFill>
            <a:srgbClr val="23A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8" name="TextBox 47"/>
          <p:cNvSpPr txBox="1"/>
          <p:nvPr/>
        </p:nvSpPr>
        <p:spPr>
          <a:xfrm>
            <a:off x="8641080" y="4773168"/>
            <a:ext cx="1554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5676D"/>
                </a:solidFill>
                <a:latin typeface="Aptos"/>
              </a:defRPr>
            </a:pPr>
            <a:r>
              <a:rPr sz="1050" dirty="0"/>
              <a:t>contributes to risk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0" y="5029200"/>
            <a:ext cx="1143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5676D"/>
                </a:solidFill>
                <a:latin typeface="Aptos"/>
              </a:defRPr>
            </a:pPr>
            <a:r>
              <a:rPr sz="1050"/>
              <a:t>BMI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92040" y="5038344"/>
            <a:ext cx="2743200" cy="146304"/>
          </a:xfrm>
          <a:prstGeom prst="roundRect">
            <a:avLst/>
          </a:prstGeom>
          <a:solidFill>
            <a:srgbClr val="23A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1" name="TextBox 50"/>
          <p:cNvSpPr txBox="1"/>
          <p:nvPr/>
        </p:nvSpPr>
        <p:spPr>
          <a:xfrm>
            <a:off x="8641080" y="5029200"/>
            <a:ext cx="1554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5676D"/>
                </a:solidFill>
                <a:latin typeface="Aptos"/>
              </a:defRPr>
            </a:pPr>
            <a:r>
              <a:rPr sz="1050"/>
              <a:t>contributes to risk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0" y="5285231"/>
            <a:ext cx="1143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5676D"/>
                </a:solidFill>
                <a:latin typeface="Aptos"/>
              </a:defRPr>
            </a:pPr>
            <a:r>
              <a:rPr sz="1050"/>
              <a:t>Age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92040" y="5294375"/>
            <a:ext cx="1920240" cy="146304"/>
          </a:xfrm>
          <a:prstGeom prst="roundRect">
            <a:avLst/>
          </a:prstGeom>
          <a:solidFill>
            <a:srgbClr val="23A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4" name="TextBox 53"/>
          <p:cNvSpPr txBox="1"/>
          <p:nvPr/>
        </p:nvSpPr>
        <p:spPr>
          <a:xfrm>
            <a:off x="8641080" y="5285231"/>
            <a:ext cx="1554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5676D"/>
                </a:solidFill>
                <a:latin typeface="Aptos"/>
              </a:defRPr>
            </a:pPr>
            <a:r>
              <a:rPr sz="1050"/>
              <a:t>contributes to risk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0" y="5541264"/>
            <a:ext cx="1143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5676D"/>
                </a:solidFill>
                <a:latin typeface="Aptos"/>
              </a:defRPr>
            </a:pPr>
            <a:r>
              <a:rPr sz="1050"/>
              <a:t>Blood Pressure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892040" y="5550407"/>
            <a:ext cx="1234440" cy="146304"/>
          </a:xfrm>
          <a:prstGeom prst="roundRect">
            <a:avLst/>
          </a:prstGeom>
          <a:solidFill>
            <a:srgbClr val="23A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7" name="TextBox 56"/>
          <p:cNvSpPr txBox="1"/>
          <p:nvPr/>
        </p:nvSpPr>
        <p:spPr>
          <a:xfrm>
            <a:off x="8641080" y="5541264"/>
            <a:ext cx="1554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5676D"/>
                </a:solidFill>
                <a:latin typeface="Aptos"/>
              </a:defRPr>
            </a:pPr>
            <a:r>
              <a:rPr sz="1050"/>
              <a:t>contributes to risk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29800" y="4782312"/>
            <a:ext cx="11887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37124C"/>
                </a:solidFill>
                <a:latin typeface="Aptos"/>
              </a:defRPr>
            </a:pPr>
            <a:r>
              <a:rPr sz="1050"/>
              <a:t>↑ stronger</a:t>
            </a:r>
            <a:br>
              <a:rPr sz="1050"/>
            </a:br>
            <a:r>
              <a:rPr sz="1050"/>
              <a:t>influence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4400" y="6181343"/>
            <a:ext cx="10607040" cy="320040"/>
          </a:xfrm>
          <a:prstGeom prst="roundRect">
            <a:avLst/>
          </a:prstGeom>
          <a:solidFill>
            <a:srgbClr val="37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0" name="TextBox 59"/>
          <p:cNvSpPr txBox="1"/>
          <p:nvPr/>
        </p:nvSpPr>
        <p:spPr>
          <a:xfrm>
            <a:off x="868680" y="6227731"/>
            <a:ext cx="10332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FFFFFF"/>
                </a:solidFill>
                <a:latin typeface="Aptos"/>
              </a:defRPr>
            </a:pPr>
            <a:r>
              <a:rPr sz="1200" dirty="0"/>
              <a:t>INTERPRETABILITY explains the decision path  •  EXPLAINABILITY explains feature influence on the 82% 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37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Why It Matters — and What Can Go Wrong?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1264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CCCE4"/>
                </a:solidFill>
                <a:latin typeface="Aptos"/>
              </a:defRPr>
            </a:pPr>
            <a:r>
              <a:t>Benefits, limitations and responsible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212080" cy="4480560"/>
          </a:xfrm>
          <a:prstGeom prst="roundRect">
            <a:avLst/>
          </a:prstGeom>
          <a:solidFill>
            <a:srgbClr val="E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64592" rtlCol="0" anchor="ctr"/>
          <a:lstStyle/>
          <a:p>
            <a:pPr algn="ctr">
              <a:spcAft>
                <a:spcPts val="400"/>
              </a:spcAft>
              <a:defRPr sz="1800" b="1">
                <a:solidFill>
                  <a:srgbClr val="37124C"/>
                </a:solidFill>
                <a:latin typeface="Aptos"/>
              </a:defRPr>
            </a:pPr>
            <a:r>
              <a:rPr dirty="0"/>
              <a:t>WHY IT MATTERS</a:t>
            </a:r>
          </a:p>
          <a:p>
            <a:pPr>
              <a:defRPr sz="1300">
                <a:solidFill>
                  <a:srgbClr val="2B2D33"/>
                </a:solidFill>
                <a:latin typeface="Aptos"/>
              </a:defRPr>
            </a:pPr>
            <a:r>
              <a:rPr sz="1600" dirty="0"/>
              <a:t>TRUST — users can understand important decisions.</a:t>
            </a:r>
            <a:br>
              <a:rPr sz="1600" dirty="0"/>
            </a:br>
            <a:br>
              <a:rPr sz="1600" dirty="0"/>
            </a:br>
            <a:r>
              <a:rPr sz="1600" dirty="0"/>
              <a:t>DEBUGGING — developers can investigate unexpected behavior.</a:t>
            </a:r>
            <a:br>
              <a:rPr sz="1600" dirty="0"/>
            </a:br>
            <a:br>
              <a:rPr sz="1600" dirty="0"/>
            </a:br>
            <a:r>
              <a:rPr sz="1600" dirty="0"/>
              <a:t>FAIRNESS — influential factors can be examined for problematic patterns.</a:t>
            </a:r>
            <a:br>
              <a:rPr sz="1600" dirty="0"/>
            </a:br>
            <a:br>
              <a:rPr sz="1600" dirty="0"/>
            </a:br>
            <a:r>
              <a:rPr sz="1600" dirty="0"/>
              <a:t>ACCOUNTABILITY — decisions can be reviewed and documented.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289550"/>
            <a:ext cx="5212080" cy="4480560"/>
          </a:xfrm>
          <a:prstGeom prst="roundRect">
            <a:avLst/>
          </a:prstGeom>
          <a:solidFill>
            <a:srgbClr val="F4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64592" rtlCol="0" anchor="ctr"/>
          <a:lstStyle/>
          <a:p>
            <a:pPr algn="ctr">
              <a:spcAft>
                <a:spcPts val="400"/>
              </a:spcAft>
              <a:defRPr sz="1800" b="1">
                <a:solidFill>
                  <a:srgbClr val="37124C"/>
                </a:solidFill>
                <a:latin typeface="Aptos"/>
              </a:defRPr>
            </a:pPr>
            <a:r>
              <a:rPr dirty="0"/>
              <a:t>LIMITATIONS</a:t>
            </a:r>
          </a:p>
          <a:p>
            <a:pPr>
              <a:defRPr sz="1300">
                <a:solidFill>
                  <a:srgbClr val="2B2D33"/>
                </a:solidFill>
                <a:latin typeface="Aptos"/>
              </a:defRPr>
            </a:pPr>
            <a:r>
              <a:rPr sz="1600" dirty="0"/>
              <a:t>FIDELITY — an explanation may not perfectly represent the true model behavior.</a:t>
            </a:r>
            <a:br>
              <a:rPr sz="1600" dirty="0"/>
            </a:br>
            <a:br>
              <a:rPr sz="1600" dirty="0"/>
            </a:br>
            <a:r>
              <a:rPr sz="1600" dirty="0"/>
              <a:t>COMPLEXITY — different users need different levels of detail.</a:t>
            </a:r>
            <a:br>
              <a:rPr sz="1600" dirty="0"/>
            </a:br>
            <a:br>
              <a:rPr sz="1600" dirty="0"/>
            </a:br>
            <a:r>
              <a:rPr sz="1600" dirty="0"/>
              <a:t>TRADE-OFFS — simpler models may restrict modeling flexibility.</a:t>
            </a:r>
            <a:br>
              <a:rPr sz="1600" dirty="0"/>
            </a:br>
            <a:br>
              <a:rPr sz="1600" dirty="0"/>
            </a:br>
            <a:r>
              <a:rPr sz="1600" dirty="0"/>
              <a:t>CONTEXT — an explanation does not prove that a decision is correct or fair.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5989320"/>
            <a:ext cx="5806440" cy="320040"/>
          </a:xfrm>
          <a:prstGeom prst="roundRect">
            <a:avLst/>
          </a:prstGeom>
          <a:solidFill>
            <a:srgbClr val="37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37560" y="6053328"/>
            <a:ext cx="55321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RESPONSIBLE AI = ACCURACY + UNDERSTANDING + HUMAN OVERSIGHT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37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1264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CCCE4"/>
                </a:solidFill>
                <a:latin typeface="Aptos"/>
              </a:defRPr>
            </a:pPr>
            <a:r>
              <a:t>The core difference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029200" cy="1645920"/>
          </a:xfrm>
          <a:prstGeom prst="roundRect">
            <a:avLst/>
          </a:prstGeom>
          <a:solidFill>
            <a:srgbClr val="E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124C"/>
                </a:solidFill>
                <a:latin typeface="Aptos"/>
              </a:defRPr>
            </a:pPr>
            <a:r>
              <a:t>INTERPRETABILITY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B2D33"/>
                </a:solidFill>
                <a:latin typeface="Aptos"/>
              </a:defRPr>
            </a:pPr>
            <a:r>
              <a:t>Understand the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25880"/>
            <a:ext cx="5029200" cy="1645920"/>
          </a:xfrm>
          <a:prstGeom prst="roundRect">
            <a:avLst/>
          </a:prstGeom>
          <a:solidFill>
            <a:srgbClr val="F2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16002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124C"/>
                </a:solidFill>
                <a:latin typeface="Aptos"/>
              </a:defRPr>
            </a:pPr>
            <a:r>
              <a:t>EXPLAINABILITY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148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B2D33"/>
                </a:solidFill>
                <a:latin typeface="Aptos"/>
              </a:defRPr>
            </a:pPr>
            <a:r>
              <a:t>Understand the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828800"/>
            <a:ext cx="173736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A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0" y="2011680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7124C"/>
                </a:solidFill>
                <a:latin typeface="Aptos"/>
              </a:defRPr>
            </a:pPr>
            <a:r>
              <a:t>TOGETHER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375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7124C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49039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2D33"/>
                </a:solidFill>
                <a:latin typeface="Aptos"/>
              </a:defRPr>
            </a:pPr>
            <a:r>
              <a:t>Interpretability asks:</a:t>
            </a:r>
            <a:br/>
            <a:r>
              <a:t>“How does the model work?”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3375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7124C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749039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2D33"/>
                </a:solidFill>
                <a:latin typeface="Aptos"/>
              </a:defRPr>
            </a:pPr>
            <a:r>
              <a:t>Explainability asks:</a:t>
            </a:r>
            <a:br/>
            <a:r>
              <a:t>“Why did the model make this prediction?”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7124C"/>
                </a:solidFill>
                <a:latin typeface="Aptos"/>
              </a:defRPr>
            </a:pPr>
            <a:r>
              <a:t>Good AI should not only predict — it should help people understand, question and responsibly use its decisions.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623560"/>
            <a:ext cx="10424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5676D"/>
                </a:solidFill>
                <a:latin typeface="Aptos"/>
              </a:defRPr>
            </a:pPr>
            <a:r>
              <a:rPr sz="1000" b="1" dirty="0"/>
              <a:t>References: NIST AI RMF (2023) • NISTIR 8367 (2021) • Lundberg &amp; Lee (2017) • Ribeiro et al. (2016) • Guidotti et al. (2018)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 descr="$PPTXTitle">
            <a:extLst>
              <a:ext uri="{FF2B5EF4-FFF2-40B4-BE49-F238E27FC236}">
                <a16:creationId xmlns:a16="http://schemas.microsoft.com/office/drawing/2014/main" id="{4E0B18F1-EDF6-60B2-830E-2E15DF88CC2B}"/>
              </a:ext>
            </a:extLst>
          </p:cNvPr>
          <p:cNvSpPr txBox="1">
            <a:spLocks/>
          </p:cNvSpPr>
          <p:nvPr/>
        </p:nvSpPr>
        <p:spPr>
          <a:xfrm>
            <a:off x="4526598" y="2520752"/>
            <a:ext cx="3138804" cy="751488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48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</a:t>
            </a:r>
            <a:r>
              <a:rPr lang="en-IN" b="1" spc="-17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IN" sz="4800" b="1" spc="-25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endParaRPr lang="en-IN" b="1" spc="-25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1FBED3-ABA7-D092-94D6-4295E1FC6B25}"/>
              </a:ext>
            </a:extLst>
          </p:cNvPr>
          <p:cNvSpPr/>
          <p:nvPr/>
        </p:nvSpPr>
        <p:spPr>
          <a:xfrm>
            <a:off x="0" y="6361471"/>
            <a:ext cx="12192000" cy="4965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46333A-C472-A90A-2D78-D8450DD875EA}"/>
              </a:ext>
            </a:extLst>
          </p:cNvPr>
          <p:cNvSpPr txBox="1"/>
          <p:nvPr/>
        </p:nvSpPr>
        <p:spPr>
          <a:xfrm>
            <a:off x="442452" y="6439506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>
                <a:latin typeface="Cambria"/>
                <a:cs typeface="Cambria"/>
              </a:rPr>
              <a:t>S.</a:t>
            </a:r>
            <a:r>
              <a:rPr lang="en-US" spc="-30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B.</a:t>
            </a:r>
            <a:r>
              <a:rPr lang="en-US" spc="-25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Jain</a:t>
            </a:r>
            <a:r>
              <a:rPr lang="en-US" spc="-25">
                <a:latin typeface="Cambria"/>
                <a:cs typeface="Cambria"/>
              </a:rPr>
              <a:t> </a:t>
            </a:r>
            <a:r>
              <a:rPr lang="en-US" spc="-10">
                <a:latin typeface="Cambria"/>
                <a:cs typeface="Cambria"/>
              </a:rPr>
              <a:t>Institute</a:t>
            </a:r>
            <a:r>
              <a:rPr lang="en-US" spc="-30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of</a:t>
            </a:r>
            <a:r>
              <a:rPr lang="en-US" spc="-25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Technology</a:t>
            </a:r>
            <a:r>
              <a:rPr lang="en-US" spc="-25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Management</a:t>
            </a:r>
            <a:r>
              <a:rPr lang="en-US" spc="-30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and</a:t>
            </a:r>
            <a:r>
              <a:rPr lang="en-US" spc="-25">
                <a:latin typeface="Cambria"/>
                <a:cs typeface="Cambria"/>
              </a:rPr>
              <a:t> </a:t>
            </a:r>
            <a:r>
              <a:rPr lang="en-US" spc="-10">
                <a:latin typeface="Cambria"/>
                <a:cs typeface="Cambria"/>
              </a:rPr>
              <a:t>research</a:t>
            </a:r>
            <a:endParaRPr lang="en-US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909</Words>
  <Application>Microsoft Office PowerPoint</Application>
  <PresentationFormat>Widescreen</PresentationFormat>
  <Paragraphs>165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Times New Roman</vt:lpstr>
      <vt:lpstr>Office Theme</vt:lpstr>
      <vt:lpstr>TAE-II Seminar 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Jarrar Khan</cp:lastModifiedBy>
  <cp:revision>4</cp:revision>
  <dcterms:created xsi:type="dcterms:W3CDTF">2013-01-27T09:14:16Z</dcterms:created>
  <dcterms:modified xsi:type="dcterms:W3CDTF">2026-09-12T04:49:28Z</dcterms:modified>
  <cp:category/>
</cp:coreProperties>
</file>